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6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9662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6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3" name="Image 0" descr="/home/workdir/artifacts/unam_escu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256032"/>
            <a:ext cx="1280160" cy="1435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83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0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UNIVERSIDAD NACIONAL AUTÓNOMA DE MÉXICO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2057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2468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Análisis estadístico del precio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vehículos BMW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457200" y="3383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Diplomado en Técnicas Estadísticas en Minería de Datos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II: Modelos Estadísticos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 2026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D7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274320" y="486460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 M. Gómez  ·  Diego Jiménez  ·  Sophia Castañeda  ·  Víctor H. Espinoza  ·  Israel A. Altamirano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D7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Planteamiento del problema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D7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Contexto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28016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precio de vehículos BMW usados es continuo, positivo y con sesgo a la derecha (media 22,733 £ &gt; mediana 20,462 £; skew = 1.59). La Normal podría no ser el mejor modelo.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D7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Preguntas de investigación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697480"/>
            <a:ext cx="4114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365760" y="2697480"/>
            <a:ext cx="91440" cy="1965960"/>
          </a:xfrm>
          <a:prstGeom prst="rect">
            <a:avLst/>
          </a:prstGeom>
          <a:solidFill>
            <a:srgbClr val="003D7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4A0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D7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distribución modela mejor el precio?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886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 ·  Log-Normal  ·  Gamma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2697480"/>
            <a:ext cx="4114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4663440" y="2697480"/>
            <a:ext cx="91440" cy="196596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4937760" y="28803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4A0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937760" y="32461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D7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¿Difiere el precio medio por transmisión?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3886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Automática  vs  Manual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D7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Datos y análisis exploratorio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3D7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10,781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Observaciones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82296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2560320" y="100584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3D7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22,733 £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560320" y="155448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82296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4754880" y="100584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3D7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20,462 £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54880" y="155448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49440" y="82296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6949440" y="100584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3D7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1.59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949440" y="155448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Asimetría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286000"/>
            <a:ext cx="8412480" cy="2423160"/>
          </a:xfrm>
          <a:prstGeom prst="roundRect">
            <a:avLst>
              <a:gd name="adj" fmla="val 3019"/>
            </a:avLst>
          </a:prstGeom>
          <a:solidFill>
            <a:srgbClr val="003D7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640080" y="2468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01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Hallazgos clave del EDA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2926080"/>
            <a:ext cx="7863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 positivo claro: media &gt; mediana → la Normal no es adecuada.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limpio: 0 valores nulos en las 9 variables.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varía según transmisión y tipo de combustible (boxplots).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Motivación directa para comparar Normal, Log-Normal y Gamma.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D7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Modelado de la distribución del precio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 por máxima verosimilitud (MLE) + selección por AIC y prueba KS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2743200" cy="502920"/>
          </a:xfrm>
          <a:prstGeom prst="rect">
            <a:avLst/>
          </a:prstGeom>
          <a:solidFill>
            <a:srgbClr val="003D7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Normal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Simétrica, asume colas ligeras. Ajuste pobre en colas derechas.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14300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3246120" y="1143000"/>
            <a:ext cx="2743200" cy="50292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3246120" y="1234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Log-Normal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9000" y="187452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para variables positivas sesgadas. Mejor equilibrio ajuste-parsimonia.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14300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6126480" y="1143000"/>
            <a:ext cx="2743200" cy="502920"/>
          </a:xfrm>
          <a:prstGeom prst="rect">
            <a:avLst/>
          </a:prstGeom>
          <a:solidFill>
            <a:srgbClr val="003D7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6126480" y="1234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Gamma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187452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para sesgo positivo. Competidor cercano a Log-Normal.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Validación: AIC (menor = mejor)  ·  Kolmogorov–Smirnov  ·  Gráficos Q-Q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D7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Resultado: Log-Normal / Gamma superan claramente a la Normal.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D7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Intervalo de confianza al 95 %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 del precio medio poblacional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4114800" cy="502920"/>
          </a:xfrm>
          <a:prstGeom prst="rect">
            <a:avLst/>
          </a:prstGeom>
          <a:solidFill>
            <a:srgbClr val="003D7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 de Student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 el Teorema Central del Límite.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Válido por el gran tamaño muestral (n ≈ 10 800).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estándar = s / √n.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41148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4663440" y="1143000"/>
            <a:ext cx="4114800" cy="50292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4663440" y="12344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Bootstrap (10 000)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2040" y="187452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Remuestreo no paramétrico.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asume normalidad.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Percentiles 2.5 % y 97.5 % de las medias.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749040"/>
            <a:ext cx="8412480" cy="960120"/>
          </a:xfrm>
          <a:prstGeom prst="roundRect">
            <a:avLst>
              <a:gd name="adj" fmla="val 7619"/>
            </a:avLst>
          </a:prstGeom>
          <a:solidFill>
            <a:srgbClr val="003D7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640080" y="393192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métodos producen intervalos coherentes. Aqui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 hace fiable la estimación de la media pese al sesgo.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D7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Prueba de hipótesis: Automática vs Manual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3D7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H₀:  μ_Auto = μ_Manual          H₁:  μ_Auto ≠ μ_Manual          α = 0.05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41148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91440" cy="1554480"/>
          </a:xfrm>
          <a:prstGeom prst="rect">
            <a:avLst/>
          </a:prstGeom>
          <a:solidFill>
            <a:srgbClr val="003D7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D7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 de Welch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asume igualdad de varianzas. Apropiada con tamaños muestrales distintos.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103120"/>
            <a:ext cx="41148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4663440" y="2103120"/>
            <a:ext cx="91440" cy="155448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493776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D7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Mann–Whitney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27889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no paramétrica de rangos. Robusta ante no normalidad.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 &lt; 0.05 se rechaza H₀ → existe diferencia significativa en el precio medio.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D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IC de la diferencia (que no contiene 0) refuerza la conclusión.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D7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Conclusiones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502920" cy="502920"/>
          </a:xfrm>
          <a:prstGeom prst="ellipse">
            <a:avLst/>
          </a:prstGeom>
          <a:solidFill>
            <a:srgbClr val="003D7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D7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Distribución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1430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precio presenta sesgo positivo. Log-Normal y Gamma ajustan mejor que la Normal (AIC, KS y Q-Q).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76511"/>
            <a:ext cx="502920" cy="502920"/>
          </a:xfrm>
          <a:prstGeom prst="ellipse">
            <a:avLst/>
          </a:prstGeom>
          <a:solidFill>
            <a:srgbClr val="003D7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457200" y="2049663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1783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D7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Estimación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21031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estimados por MLE. IC al 95 % (t y bootstrap) coherentes gracias al gran 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502920" cy="502920"/>
          </a:xfrm>
          <a:prstGeom prst="ellipse">
            <a:avLst/>
          </a:prstGeom>
          <a:solidFill>
            <a:srgbClr val="003D7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457200" y="281635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2743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D7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Comparación de grupos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30632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t de Welch y Mann–Whitney permiten decidir sobre la diferencia de medias entre transmisiones.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849272"/>
            <a:ext cx="502920" cy="502920"/>
          </a:xfrm>
          <a:prstGeom prst="ellipse">
            <a:avLst/>
          </a:prstGeom>
          <a:solidFill>
            <a:srgbClr val="003D7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457200" y="3922424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3703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D7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Implicación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88720" y="40233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con Log-Normal/Gamma y reconocer el efecto de la transmisión mejora el análisis de precios BMW.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534</Words>
  <Application>Microsoft Macintosh PowerPoint</Application>
  <PresentationFormat>Presentación en pantalla (16:9)</PresentationFormat>
  <Paragraphs>80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Century Gothic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estadístico del precio de vehículos BMW</dc:title>
  <dc:subject>Proyecto Final Módulo II</dc:subject>
  <dc:creator>Equipo 1 — Diplomado UNAM</dc:creator>
  <cp:lastModifiedBy>Sophia Castañeda Ayala</cp:lastModifiedBy>
  <cp:revision>2</cp:revision>
  <dcterms:created xsi:type="dcterms:W3CDTF">2026-08-01T01:59:13Z</dcterms:created>
  <dcterms:modified xsi:type="dcterms:W3CDTF">2026-08-01T02:02:57Z</dcterms:modified>
</cp:coreProperties>
</file>